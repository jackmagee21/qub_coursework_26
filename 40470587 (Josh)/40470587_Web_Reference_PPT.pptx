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41AFF-BCAA-41E9-90A5-9A88A3F81C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A25ADF3-26B9-4A55-AFB1-261517009F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675DD62-FEAA-45C7-A52B-93F66DA030C8}"/>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5" name="Footer Placeholder 4">
            <a:extLst>
              <a:ext uri="{FF2B5EF4-FFF2-40B4-BE49-F238E27FC236}">
                <a16:creationId xmlns:a16="http://schemas.microsoft.com/office/drawing/2014/main" id="{611C1C36-0B4E-4318-B3FC-C24C5ADFA0D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1EBC4B-7BA6-4116-B3FD-4E583AF72B16}"/>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788320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78B86-1BF3-4228-8482-13B2DC30092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328E8D0-CEA5-4DFF-9BA4-93EAD689F9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D2F4CF-89F7-4470-9E02-1445CA984423}"/>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5" name="Footer Placeholder 4">
            <a:extLst>
              <a:ext uri="{FF2B5EF4-FFF2-40B4-BE49-F238E27FC236}">
                <a16:creationId xmlns:a16="http://schemas.microsoft.com/office/drawing/2014/main" id="{FB0D1986-1818-43CE-A02C-6B6286F0CA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D0A600-C14D-4ED9-A434-4A5727C4D96D}"/>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2760475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1157-C145-4843-982F-E7A983D493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BCF6E62-3035-4178-A7BB-27C6D9D670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0B41E4-CFB6-4556-A728-DAA62A035598}"/>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5" name="Footer Placeholder 4">
            <a:extLst>
              <a:ext uri="{FF2B5EF4-FFF2-40B4-BE49-F238E27FC236}">
                <a16:creationId xmlns:a16="http://schemas.microsoft.com/office/drawing/2014/main" id="{1F14799B-448A-4957-90BD-CF965F7EC4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93C308-0622-4B77-B80F-46A1661B4CCD}"/>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913742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320FD-229A-4376-9F51-051A3E9D40A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C614740-D133-4363-BEBC-38729DFF6F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0B091AC-4EE7-4253-ABBD-6A41896F36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801B13F-8FE1-47F4-AC24-B93DB30F01C2}"/>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6" name="Footer Placeholder 5">
            <a:extLst>
              <a:ext uri="{FF2B5EF4-FFF2-40B4-BE49-F238E27FC236}">
                <a16:creationId xmlns:a16="http://schemas.microsoft.com/office/drawing/2014/main" id="{8B101B30-F517-46E4-B9A2-4767D1E8F8B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B63647C-CA14-4702-B0BC-F7902B2D00D1}"/>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303187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BEBEA-D726-48B7-8236-3FCE0CF395A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088D903-7567-4F89-82FF-2D005E603C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955CD4-3D1B-47D2-AC4F-05BE5A1F2E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334C5E6-34F0-47C6-846E-1DD86A23A6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2712DB-57E0-4556-A4F4-73FC9E3CBF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9B60AC0-E7C2-4072-9F80-69D5E3836999}"/>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8" name="Footer Placeholder 7">
            <a:extLst>
              <a:ext uri="{FF2B5EF4-FFF2-40B4-BE49-F238E27FC236}">
                <a16:creationId xmlns:a16="http://schemas.microsoft.com/office/drawing/2014/main" id="{FE498506-B232-4D05-8411-BE5BC15DC42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2B747BF-ACA3-4126-866D-5CA0AF005FE0}"/>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1639695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00F28-0366-4839-A715-4DAECFF0273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B7BFA3C-11FB-4E10-A857-040FFA717D39}"/>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4" name="Footer Placeholder 3">
            <a:extLst>
              <a:ext uri="{FF2B5EF4-FFF2-40B4-BE49-F238E27FC236}">
                <a16:creationId xmlns:a16="http://schemas.microsoft.com/office/drawing/2014/main" id="{416D7DB3-2CAB-4E8D-B95D-1A4C29003FB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2B8C9CD-A89E-4894-A017-87808871F0A5}"/>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4076706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399ECE-9E2B-47F7-8C68-1B8DEA385648}"/>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3" name="Footer Placeholder 2">
            <a:extLst>
              <a:ext uri="{FF2B5EF4-FFF2-40B4-BE49-F238E27FC236}">
                <a16:creationId xmlns:a16="http://schemas.microsoft.com/office/drawing/2014/main" id="{6F741418-8199-4955-A75D-4D5E1981F2F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9B5CAAA-301B-4D93-9848-88A80B5D1F8E}"/>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3786459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64D3C-0175-4379-953A-E22853A64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06011BF-6E74-4BB5-B1E1-244A946118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56AFC47-23C0-4BE2-A66D-C370A9683C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2272E-35C4-491A-A94B-461AC67D1590}"/>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6" name="Footer Placeholder 5">
            <a:extLst>
              <a:ext uri="{FF2B5EF4-FFF2-40B4-BE49-F238E27FC236}">
                <a16:creationId xmlns:a16="http://schemas.microsoft.com/office/drawing/2014/main" id="{8BE7237D-E6AA-4EB4-8077-CC2C973AAE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EF86F9E-F096-44C5-8B66-EEC137FD58F5}"/>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524346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66003-26F7-40A3-A5C9-9BF9ECF70F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399D9F7-E4B7-437D-89FE-122404CE84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90D0B7D-6033-4674-83D8-0D3D54088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84B57F-4D58-4780-B982-607BC575B05C}"/>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6" name="Footer Placeholder 5">
            <a:extLst>
              <a:ext uri="{FF2B5EF4-FFF2-40B4-BE49-F238E27FC236}">
                <a16:creationId xmlns:a16="http://schemas.microsoft.com/office/drawing/2014/main" id="{131DC867-77C9-4108-8761-5D58C9AE47B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D7AF16-6B0C-43C1-826E-890246AAB502}"/>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3192516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791B3-9466-434B-A691-4EFF0B98D87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41EDAB-D78D-4B0A-94E0-6824A793BC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1A76F5-06BB-45F6-A0A1-F700498F9441}"/>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5" name="Footer Placeholder 4">
            <a:extLst>
              <a:ext uri="{FF2B5EF4-FFF2-40B4-BE49-F238E27FC236}">
                <a16:creationId xmlns:a16="http://schemas.microsoft.com/office/drawing/2014/main" id="{1AB0CDB5-6863-490E-BD38-163266CBA1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AA1290-C9ED-4ACE-8D76-7C19F8FDE2F8}"/>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3738083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332E56-D984-4E5E-88D9-A648E94C59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F082790-3DDE-4489-97CD-C5AAB4BFED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46DA47-AA75-4E86-84AA-829E819007F5}"/>
              </a:ext>
            </a:extLst>
          </p:cNvPr>
          <p:cNvSpPr>
            <a:spLocks noGrp="1"/>
          </p:cNvSpPr>
          <p:nvPr>
            <p:ph type="dt" sz="half" idx="10"/>
          </p:nvPr>
        </p:nvSpPr>
        <p:spPr/>
        <p:txBody>
          <a:bodyPr/>
          <a:lstStyle/>
          <a:p>
            <a:fld id="{358EA34B-334E-422F-9FBB-EA6EFBED2C5A}" type="datetimeFigureOut">
              <a:rPr lang="en-GB" smtClean="0"/>
              <a:t>20/04/2026</a:t>
            </a:fld>
            <a:endParaRPr lang="en-GB"/>
          </a:p>
        </p:txBody>
      </p:sp>
      <p:sp>
        <p:nvSpPr>
          <p:cNvPr id="5" name="Footer Placeholder 4">
            <a:extLst>
              <a:ext uri="{FF2B5EF4-FFF2-40B4-BE49-F238E27FC236}">
                <a16:creationId xmlns:a16="http://schemas.microsoft.com/office/drawing/2014/main" id="{A6CBFF0F-1777-4DB6-B61E-8AFC89E5C79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C3C36D-085E-4C82-9063-44AB2EFC040B}"/>
              </a:ext>
            </a:extLst>
          </p:cNvPr>
          <p:cNvSpPr>
            <a:spLocks noGrp="1"/>
          </p:cNvSpPr>
          <p:nvPr>
            <p:ph type="sldNum" sz="quarter" idx="12"/>
          </p:nvPr>
        </p:nvSpPr>
        <p:spPr/>
        <p:txBody>
          <a:bodyPr/>
          <a:lstStyle/>
          <a:p>
            <a:fld id="{5C7AFCA9-34A9-49B6-B187-9BA6F51510AF}" type="slidenum">
              <a:rPr lang="en-GB" smtClean="0"/>
              <a:t>‹#›</a:t>
            </a:fld>
            <a:endParaRPr lang="en-GB"/>
          </a:p>
        </p:txBody>
      </p:sp>
    </p:spTree>
    <p:extLst>
      <p:ext uri="{BB962C8B-B14F-4D97-AF65-F5344CB8AC3E}">
        <p14:creationId xmlns:p14="http://schemas.microsoft.com/office/powerpoint/2010/main" val="68778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1ABE13-FF9C-41CB-9216-7C0386C247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DD2519-F303-4C6E-8EB1-EC308E254B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FB11E30-0F96-4259-A06F-35E8C793EA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8EA34B-334E-422F-9FBB-EA6EFBED2C5A}" type="datetimeFigureOut">
              <a:rPr lang="en-GB" smtClean="0"/>
              <a:t>20/04/2026</a:t>
            </a:fld>
            <a:endParaRPr lang="en-GB"/>
          </a:p>
        </p:txBody>
      </p:sp>
      <p:sp>
        <p:nvSpPr>
          <p:cNvPr id="5" name="Footer Placeholder 4">
            <a:extLst>
              <a:ext uri="{FF2B5EF4-FFF2-40B4-BE49-F238E27FC236}">
                <a16:creationId xmlns:a16="http://schemas.microsoft.com/office/drawing/2014/main" id="{CDE05898-A966-4CFA-82D6-98CE904009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F8AFE40-E419-4B4D-9AE9-AE3358B1A5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7AFCA9-34A9-49B6-B187-9BA6F51510AF}" type="slidenum">
              <a:rPr lang="en-GB" smtClean="0"/>
              <a:t>‹#›</a:t>
            </a:fld>
            <a:endParaRPr lang="en-GB"/>
          </a:p>
        </p:txBody>
      </p:sp>
    </p:spTree>
    <p:extLst>
      <p:ext uri="{BB962C8B-B14F-4D97-AF65-F5344CB8AC3E}">
        <p14:creationId xmlns:p14="http://schemas.microsoft.com/office/powerpoint/2010/main" val="2220817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F4774-337B-4BF8-B5A4-A39E67E878A0}"/>
              </a:ext>
            </a:extLst>
          </p:cNvPr>
          <p:cNvSpPr>
            <a:spLocks noGrp="1"/>
          </p:cNvSpPr>
          <p:nvPr>
            <p:ph type="ctrTitle"/>
          </p:nvPr>
        </p:nvSpPr>
        <p:spPr/>
        <p:txBody>
          <a:bodyPr/>
          <a:lstStyle/>
          <a:p>
            <a:r>
              <a:rPr lang="en-GB" dirty="0"/>
              <a:t>40470587 Joshua Sheridan Web Reference PPT</a:t>
            </a:r>
          </a:p>
        </p:txBody>
      </p:sp>
      <p:sp>
        <p:nvSpPr>
          <p:cNvPr id="3" name="Subtitle 2">
            <a:extLst>
              <a:ext uri="{FF2B5EF4-FFF2-40B4-BE49-F238E27FC236}">
                <a16:creationId xmlns:a16="http://schemas.microsoft.com/office/drawing/2014/main" id="{807A8D08-D3A9-4C4E-B7E0-38B0BEDF3466}"/>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504345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36CB2-EE05-4146-8708-CCDFCDC31301}"/>
              </a:ext>
            </a:extLst>
          </p:cNvPr>
          <p:cNvSpPr>
            <a:spLocks noGrp="1"/>
          </p:cNvSpPr>
          <p:nvPr>
            <p:ph type="title"/>
          </p:nvPr>
        </p:nvSpPr>
        <p:spPr/>
        <p:txBody>
          <a:bodyPr/>
          <a:lstStyle/>
          <a:p>
            <a:r>
              <a:rPr lang="en-GB" dirty="0"/>
              <a:t>Client Side Validation</a:t>
            </a:r>
          </a:p>
        </p:txBody>
      </p:sp>
      <p:pic>
        <p:nvPicPr>
          <p:cNvPr id="13" name="Content Placeholder 12">
            <a:extLst>
              <a:ext uri="{FF2B5EF4-FFF2-40B4-BE49-F238E27FC236}">
                <a16:creationId xmlns:a16="http://schemas.microsoft.com/office/drawing/2014/main" id="{FC221565-F696-4841-91B2-238E5842B829}"/>
              </a:ext>
            </a:extLst>
          </p:cNvPr>
          <p:cNvPicPr>
            <a:picLocks noGrp="1" noChangeAspect="1"/>
          </p:cNvPicPr>
          <p:nvPr>
            <p:ph idx="1"/>
          </p:nvPr>
        </p:nvPicPr>
        <p:blipFill rotWithShape="1">
          <a:blip r:embed="rId2"/>
          <a:srcRect l="31581" r="33657"/>
          <a:stretch/>
        </p:blipFill>
        <p:spPr>
          <a:xfrm>
            <a:off x="4772025" y="1083733"/>
            <a:ext cx="2844800" cy="4247333"/>
          </a:xfrm>
        </p:spPr>
      </p:pic>
      <p:sp>
        <p:nvSpPr>
          <p:cNvPr id="11" name="Text Placeholder 10">
            <a:extLst>
              <a:ext uri="{FF2B5EF4-FFF2-40B4-BE49-F238E27FC236}">
                <a16:creationId xmlns:a16="http://schemas.microsoft.com/office/drawing/2014/main" id="{892E818E-F331-4962-AC85-A07716A028F5}"/>
              </a:ext>
            </a:extLst>
          </p:cNvPr>
          <p:cNvSpPr>
            <a:spLocks noGrp="1"/>
          </p:cNvSpPr>
          <p:nvPr>
            <p:ph type="body" sz="half" idx="2"/>
          </p:nvPr>
        </p:nvSpPr>
        <p:spPr/>
        <p:txBody>
          <a:bodyPr/>
          <a:lstStyle/>
          <a:p>
            <a:r>
              <a:rPr lang="en-GB" dirty="0"/>
              <a:t>In the student record form, client side validation has been implemented across all fields.  </a:t>
            </a:r>
          </a:p>
          <a:p>
            <a:r>
              <a:rPr lang="en-GB" dirty="0"/>
              <a:t>This ranges from using the HTML required tag to dynamically validating the fields using JavaScript to ensure that the data entered is in the correct format.</a:t>
            </a:r>
          </a:p>
          <a:p>
            <a:r>
              <a:rPr lang="en-GB" dirty="0"/>
              <a:t>In the screenshots, data has been entered with some fields missing or in an incorrect format.  One Screenshot shows the HTML required tag working as intended, and the other screenshot shows the JavaScript validation preventing the user from entering a string as the phone number</a:t>
            </a:r>
          </a:p>
        </p:txBody>
      </p:sp>
      <p:pic>
        <p:nvPicPr>
          <p:cNvPr id="21" name="Picture 20">
            <a:extLst>
              <a:ext uri="{FF2B5EF4-FFF2-40B4-BE49-F238E27FC236}">
                <a16:creationId xmlns:a16="http://schemas.microsoft.com/office/drawing/2014/main" id="{6F9F0576-E638-4720-BC5E-84B44555FBB6}"/>
              </a:ext>
            </a:extLst>
          </p:cNvPr>
          <p:cNvPicPr>
            <a:picLocks noChangeAspect="1"/>
          </p:cNvPicPr>
          <p:nvPr/>
        </p:nvPicPr>
        <p:blipFill>
          <a:blip r:embed="rId3"/>
          <a:stretch>
            <a:fillRect/>
          </a:stretch>
        </p:blipFill>
        <p:spPr>
          <a:xfrm>
            <a:off x="7616825" y="1464733"/>
            <a:ext cx="4283326" cy="2743199"/>
          </a:xfrm>
          <a:prstGeom prst="rect">
            <a:avLst/>
          </a:prstGeom>
        </p:spPr>
      </p:pic>
    </p:spTree>
    <p:extLst>
      <p:ext uri="{BB962C8B-B14F-4D97-AF65-F5344CB8AC3E}">
        <p14:creationId xmlns:p14="http://schemas.microsoft.com/office/powerpoint/2010/main" val="1199572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6A546-D9DE-476C-8DF2-A424998CD0DA}"/>
              </a:ext>
            </a:extLst>
          </p:cNvPr>
          <p:cNvSpPr>
            <a:spLocks noGrp="1"/>
          </p:cNvSpPr>
          <p:nvPr>
            <p:ph type="title"/>
          </p:nvPr>
        </p:nvSpPr>
        <p:spPr/>
        <p:txBody>
          <a:bodyPr/>
          <a:lstStyle/>
          <a:p>
            <a:r>
              <a:rPr lang="en-GB" dirty="0"/>
              <a:t>Dynamic Checkbox Generation</a:t>
            </a:r>
          </a:p>
        </p:txBody>
      </p:sp>
      <p:sp>
        <p:nvSpPr>
          <p:cNvPr id="4" name="Text Placeholder 3">
            <a:extLst>
              <a:ext uri="{FF2B5EF4-FFF2-40B4-BE49-F238E27FC236}">
                <a16:creationId xmlns:a16="http://schemas.microsoft.com/office/drawing/2014/main" id="{68CAD522-B3AE-4455-B737-1E229B17CEDB}"/>
              </a:ext>
            </a:extLst>
          </p:cNvPr>
          <p:cNvSpPr>
            <a:spLocks noGrp="1"/>
          </p:cNvSpPr>
          <p:nvPr>
            <p:ph type="body" sz="half" idx="2"/>
          </p:nvPr>
        </p:nvSpPr>
        <p:spPr/>
        <p:txBody>
          <a:bodyPr/>
          <a:lstStyle/>
          <a:p>
            <a:r>
              <a:rPr lang="en-GB" dirty="0"/>
              <a:t>Each of these checkboxes are dynamically created in the JavaScript.  </a:t>
            </a:r>
          </a:p>
          <a:p>
            <a:r>
              <a:rPr lang="en-GB" dirty="0"/>
              <a:t>After the page has loaded, the webpage will retrieve all of the Disabilities and Assistances from the database, then create a checkbox for each of them using the ID in the table as the value.</a:t>
            </a:r>
          </a:p>
        </p:txBody>
      </p:sp>
      <p:pic>
        <p:nvPicPr>
          <p:cNvPr id="10" name="Content Placeholder 9">
            <a:extLst>
              <a:ext uri="{FF2B5EF4-FFF2-40B4-BE49-F238E27FC236}">
                <a16:creationId xmlns:a16="http://schemas.microsoft.com/office/drawing/2014/main" id="{403028D4-F8BD-443D-89CD-C0D5C2466768}"/>
              </a:ext>
            </a:extLst>
          </p:cNvPr>
          <p:cNvPicPr>
            <a:picLocks noGrp="1" noChangeAspect="1"/>
          </p:cNvPicPr>
          <p:nvPr>
            <p:ph idx="1"/>
          </p:nvPr>
        </p:nvPicPr>
        <p:blipFill>
          <a:blip r:embed="rId2"/>
          <a:stretch>
            <a:fillRect/>
          </a:stretch>
        </p:blipFill>
        <p:spPr>
          <a:xfrm>
            <a:off x="4836054" y="2268068"/>
            <a:ext cx="6843187" cy="2321863"/>
          </a:xfrm>
        </p:spPr>
      </p:pic>
    </p:spTree>
    <p:extLst>
      <p:ext uri="{BB962C8B-B14F-4D97-AF65-F5344CB8AC3E}">
        <p14:creationId xmlns:p14="http://schemas.microsoft.com/office/powerpoint/2010/main" val="2805360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ECF5-F37D-4413-9024-4CADDCE4D084}"/>
              </a:ext>
            </a:extLst>
          </p:cNvPr>
          <p:cNvSpPr>
            <a:spLocks noGrp="1"/>
          </p:cNvSpPr>
          <p:nvPr>
            <p:ph type="title"/>
          </p:nvPr>
        </p:nvSpPr>
        <p:spPr/>
        <p:txBody>
          <a:bodyPr/>
          <a:lstStyle/>
          <a:p>
            <a:r>
              <a:rPr lang="en-GB" dirty="0"/>
              <a:t>Add Record (Create)</a:t>
            </a:r>
          </a:p>
        </p:txBody>
      </p:sp>
      <p:pic>
        <p:nvPicPr>
          <p:cNvPr id="6" name="Content Placeholder 5">
            <a:extLst>
              <a:ext uri="{FF2B5EF4-FFF2-40B4-BE49-F238E27FC236}">
                <a16:creationId xmlns:a16="http://schemas.microsoft.com/office/drawing/2014/main" id="{A33EDD85-304E-4840-A6AA-732565610C59}"/>
              </a:ext>
            </a:extLst>
          </p:cNvPr>
          <p:cNvPicPr>
            <a:picLocks noGrp="1" noChangeAspect="1"/>
          </p:cNvPicPr>
          <p:nvPr>
            <p:ph idx="1"/>
          </p:nvPr>
        </p:nvPicPr>
        <p:blipFill>
          <a:blip r:embed="rId2"/>
          <a:stretch>
            <a:fillRect/>
          </a:stretch>
        </p:blipFill>
        <p:spPr>
          <a:xfrm>
            <a:off x="6200560" y="3488267"/>
            <a:ext cx="4265828" cy="2217673"/>
          </a:xfrm>
        </p:spPr>
      </p:pic>
      <p:sp>
        <p:nvSpPr>
          <p:cNvPr id="4" name="Text Placeholder 3">
            <a:extLst>
              <a:ext uri="{FF2B5EF4-FFF2-40B4-BE49-F238E27FC236}">
                <a16:creationId xmlns:a16="http://schemas.microsoft.com/office/drawing/2014/main" id="{53519887-753D-4D8D-8290-75F1289FEA3F}"/>
              </a:ext>
            </a:extLst>
          </p:cNvPr>
          <p:cNvSpPr>
            <a:spLocks noGrp="1"/>
          </p:cNvSpPr>
          <p:nvPr>
            <p:ph type="body" sz="half" idx="2"/>
          </p:nvPr>
        </p:nvSpPr>
        <p:spPr/>
        <p:txBody>
          <a:bodyPr/>
          <a:lstStyle/>
          <a:p>
            <a:r>
              <a:rPr lang="en-GB" dirty="0"/>
              <a:t>Each field in the add student form represents a field within the database.  </a:t>
            </a:r>
          </a:p>
          <a:p>
            <a:r>
              <a:rPr lang="en-GB" dirty="0"/>
              <a:t>After the user submits the form, the data is validated then added into the database.</a:t>
            </a:r>
          </a:p>
          <a:p>
            <a:r>
              <a:rPr lang="en-GB" dirty="0"/>
              <a:t>If the data is successfully added, the message in the screenshot is shown to the user.</a:t>
            </a:r>
          </a:p>
          <a:p>
            <a:r>
              <a:rPr lang="en-GB" dirty="0"/>
              <a:t>If there is some sort of error adding the data to the database, the corresponding error message will be shown to the user.</a:t>
            </a:r>
          </a:p>
        </p:txBody>
      </p:sp>
      <p:pic>
        <p:nvPicPr>
          <p:cNvPr id="8" name="Picture 7">
            <a:extLst>
              <a:ext uri="{FF2B5EF4-FFF2-40B4-BE49-F238E27FC236}">
                <a16:creationId xmlns:a16="http://schemas.microsoft.com/office/drawing/2014/main" id="{4C996321-D521-4DC0-A19F-DFFFF7E39A4D}"/>
              </a:ext>
            </a:extLst>
          </p:cNvPr>
          <p:cNvPicPr>
            <a:picLocks noChangeAspect="1"/>
          </p:cNvPicPr>
          <p:nvPr/>
        </p:nvPicPr>
        <p:blipFill>
          <a:blip r:embed="rId3"/>
          <a:stretch>
            <a:fillRect/>
          </a:stretch>
        </p:blipFill>
        <p:spPr>
          <a:xfrm>
            <a:off x="6200560" y="1109943"/>
            <a:ext cx="4465832" cy="2189181"/>
          </a:xfrm>
          <a:prstGeom prst="rect">
            <a:avLst/>
          </a:prstGeom>
        </p:spPr>
      </p:pic>
    </p:spTree>
    <p:extLst>
      <p:ext uri="{BB962C8B-B14F-4D97-AF65-F5344CB8AC3E}">
        <p14:creationId xmlns:p14="http://schemas.microsoft.com/office/powerpoint/2010/main" val="217218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4349E-AF32-477D-8AF0-13A483A3349B}"/>
              </a:ext>
            </a:extLst>
          </p:cNvPr>
          <p:cNvSpPr>
            <a:spLocks noGrp="1"/>
          </p:cNvSpPr>
          <p:nvPr>
            <p:ph type="title"/>
          </p:nvPr>
        </p:nvSpPr>
        <p:spPr/>
        <p:txBody>
          <a:bodyPr/>
          <a:lstStyle/>
          <a:p>
            <a:r>
              <a:rPr lang="en-GB" dirty="0"/>
              <a:t>Edit/Delete Student Records</a:t>
            </a:r>
          </a:p>
        </p:txBody>
      </p:sp>
      <p:pic>
        <p:nvPicPr>
          <p:cNvPr id="6" name="Content Placeholder 5">
            <a:extLst>
              <a:ext uri="{FF2B5EF4-FFF2-40B4-BE49-F238E27FC236}">
                <a16:creationId xmlns:a16="http://schemas.microsoft.com/office/drawing/2014/main" id="{D2A50EA3-D476-4550-BE2D-7B360D87CDB0}"/>
              </a:ext>
            </a:extLst>
          </p:cNvPr>
          <p:cNvPicPr>
            <a:picLocks noGrp="1" noChangeAspect="1"/>
          </p:cNvPicPr>
          <p:nvPr>
            <p:ph idx="1"/>
          </p:nvPr>
        </p:nvPicPr>
        <p:blipFill>
          <a:blip r:embed="rId2"/>
          <a:stretch>
            <a:fillRect/>
          </a:stretch>
        </p:blipFill>
        <p:spPr>
          <a:xfrm>
            <a:off x="5867399" y="457200"/>
            <a:ext cx="5484813" cy="2830963"/>
          </a:xfrm>
        </p:spPr>
      </p:pic>
      <p:sp>
        <p:nvSpPr>
          <p:cNvPr id="4" name="Text Placeholder 3">
            <a:extLst>
              <a:ext uri="{FF2B5EF4-FFF2-40B4-BE49-F238E27FC236}">
                <a16:creationId xmlns:a16="http://schemas.microsoft.com/office/drawing/2014/main" id="{2E90A8A0-E48A-4C21-B7AB-EF7EBC261FD4}"/>
              </a:ext>
            </a:extLst>
          </p:cNvPr>
          <p:cNvSpPr>
            <a:spLocks noGrp="1"/>
          </p:cNvSpPr>
          <p:nvPr>
            <p:ph type="body" sz="half" idx="2"/>
          </p:nvPr>
        </p:nvSpPr>
        <p:spPr/>
        <p:txBody>
          <a:bodyPr/>
          <a:lstStyle/>
          <a:p>
            <a:r>
              <a:rPr lang="en-GB" dirty="0"/>
              <a:t>One of the screenshots shows the confirmation given to the user before they delete a student record.</a:t>
            </a:r>
          </a:p>
          <a:p>
            <a:r>
              <a:rPr lang="en-GB" dirty="0"/>
              <a:t>The other screenshot shows the form below the table after the edit button has been clicked.  </a:t>
            </a:r>
          </a:p>
          <a:p>
            <a:r>
              <a:rPr lang="en-GB" dirty="0"/>
              <a:t>All of the student’s information is copied into the form on click of the edit button.  </a:t>
            </a:r>
          </a:p>
          <a:p>
            <a:r>
              <a:rPr lang="en-GB" dirty="0"/>
              <a:t>After clicking submit on the form the same validation for the add student form takes place.  </a:t>
            </a:r>
          </a:p>
          <a:p>
            <a:r>
              <a:rPr lang="en-GB" dirty="0"/>
              <a:t>The data is then updated in the database.</a:t>
            </a:r>
          </a:p>
        </p:txBody>
      </p:sp>
      <p:pic>
        <p:nvPicPr>
          <p:cNvPr id="8" name="Picture 7">
            <a:extLst>
              <a:ext uri="{FF2B5EF4-FFF2-40B4-BE49-F238E27FC236}">
                <a16:creationId xmlns:a16="http://schemas.microsoft.com/office/drawing/2014/main" id="{5431398C-6949-4CDA-9CA3-53DB847FBDE9}"/>
              </a:ext>
            </a:extLst>
          </p:cNvPr>
          <p:cNvPicPr>
            <a:picLocks noChangeAspect="1"/>
          </p:cNvPicPr>
          <p:nvPr/>
        </p:nvPicPr>
        <p:blipFill>
          <a:blip r:embed="rId3"/>
          <a:stretch>
            <a:fillRect/>
          </a:stretch>
        </p:blipFill>
        <p:spPr>
          <a:xfrm>
            <a:off x="6036301" y="3429000"/>
            <a:ext cx="5436032" cy="2667000"/>
          </a:xfrm>
          <a:prstGeom prst="rect">
            <a:avLst/>
          </a:prstGeom>
        </p:spPr>
      </p:pic>
    </p:spTree>
    <p:extLst>
      <p:ext uri="{BB962C8B-B14F-4D97-AF65-F5344CB8AC3E}">
        <p14:creationId xmlns:p14="http://schemas.microsoft.com/office/powerpoint/2010/main" val="3157115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7CB37-D7C2-47B0-8113-47C2997788F1}"/>
              </a:ext>
            </a:extLst>
          </p:cNvPr>
          <p:cNvSpPr>
            <a:spLocks noGrp="1"/>
          </p:cNvSpPr>
          <p:nvPr>
            <p:ph type="title"/>
          </p:nvPr>
        </p:nvSpPr>
        <p:spPr/>
        <p:txBody>
          <a:bodyPr/>
          <a:lstStyle/>
          <a:p>
            <a:r>
              <a:rPr lang="en-GB" dirty="0"/>
              <a:t>Parameterised Reports</a:t>
            </a:r>
          </a:p>
        </p:txBody>
      </p:sp>
      <p:pic>
        <p:nvPicPr>
          <p:cNvPr id="6" name="Content Placeholder 5">
            <a:extLst>
              <a:ext uri="{FF2B5EF4-FFF2-40B4-BE49-F238E27FC236}">
                <a16:creationId xmlns:a16="http://schemas.microsoft.com/office/drawing/2014/main" id="{55A5230A-3A6A-44D1-825B-80E71149E66E}"/>
              </a:ext>
            </a:extLst>
          </p:cNvPr>
          <p:cNvPicPr>
            <a:picLocks noGrp="1" noChangeAspect="1"/>
          </p:cNvPicPr>
          <p:nvPr>
            <p:ph idx="1"/>
          </p:nvPr>
        </p:nvPicPr>
        <p:blipFill>
          <a:blip r:embed="rId2"/>
          <a:stretch>
            <a:fillRect/>
          </a:stretch>
        </p:blipFill>
        <p:spPr>
          <a:xfrm>
            <a:off x="5183188" y="1906905"/>
            <a:ext cx="6172200" cy="3034665"/>
          </a:xfrm>
        </p:spPr>
      </p:pic>
      <p:sp>
        <p:nvSpPr>
          <p:cNvPr id="4" name="Text Placeholder 3">
            <a:extLst>
              <a:ext uri="{FF2B5EF4-FFF2-40B4-BE49-F238E27FC236}">
                <a16:creationId xmlns:a16="http://schemas.microsoft.com/office/drawing/2014/main" id="{4F25A8C4-78F7-439E-85F8-92EE8CC75906}"/>
              </a:ext>
            </a:extLst>
          </p:cNvPr>
          <p:cNvSpPr>
            <a:spLocks noGrp="1"/>
          </p:cNvSpPr>
          <p:nvPr>
            <p:ph type="body" sz="half" idx="2"/>
          </p:nvPr>
        </p:nvSpPr>
        <p:spPr/>
        <p:txBody>
          <a:bodyPr/>
          <a:lstStyle/>
          <a:p>
            <a:r>
              <a:rPr lang="en-GB" dirty="0"/>
              <a:t>This is one of my 3 reports.  This Specific report show the average grade for each disability type across all tests.  </a:t>
            </a:r>
          </a:p>
          <a:p>
            <a:r>
              <a:rPr lang="en-GB" dirty="0"/>
              <a:t>The data is pulled live from the database then the format is changed and shown in a bar chart.  </a:t>
            </a:r>
          </a:p>
          <a:p>
            <a:r>
              <a:rPr lang="en-GB" dirty="0"/>
              <a:t>The number of bars also changes dynamically, so if the school were to enrol another student with a different type of disability they would also be included in the chart.</a:t>
            </a:r>
          </a:p>
        </p:txBody>
      </p:sp>
    </p:spTree>
    <p:extLst>
      <p:ext uri="{BB962C8B-B14F-4D97-AF65-F5344CB8AC3E}">
        <p14:creationId xmlns:p14="http://schemas.microsoft.com/office/powerpoint/2010/main" val="469842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391</Words>
  <Application>Microsoft Office PowerPoint</Application>
  <PresentationFormat>Widescreen</PresentationFormat>
  <Paragraphs>23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40470587 Joshua Sheridan Web Reference PPT</vt:lpstr>
      <vt:lpstr>Client Side Validation</vt:lpstr>
      <vt:lpstr>Dynamic Checkbox Generation</vt:lpstr>
      <vt:lpstr>Add Record (Create)</vt:lpstr>
      <vt:lpstr>Edit/Delete Student Records</vt:lpstr>
      <vt:lpstr>Parameterised Reports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40470587 Joshua Sheridan Web Reference PPT</dc:title>
  <dc:creator>Joshua Sheridan</dc:creator>
  <cp:lastModifiedBy>Joshua Sheridan</cp:lastModifiedBy>
  <cp:revision>6</cp:revision>
  <dcterms:created xsi:type="dcterms:W3CDTF">2026-04-20T10:28:46Z</dcterms:created>
  <dcterms:modified xsi:type="dcterms:W3CDTF">2026-04-20T11:19:00Z</dcterms:modified>
</cp:coreProperties>
</file>